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9EBB32A-0AAC-481D-9359-40B383D87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11D7B77-AF86-44AB-954A-7BE378B59B44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9EBB32A-0AAC-481D-9359-40B383D8720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2343152"/>
          </a:xfrm>
        </p:spPr>
        <p:txBody>
          <a:bodyPr/>
          <a:lstStyle/>
          <a:p>
            <a:pPr algn="ctr"/>
            <a:r>
              <a:rPr lang="en-US" dirty="0" err="1" smtClean="0"/>
              <a:t>LG</a:t>
            </a:r>
            <a:r>
              <a:rPr lang="en-US" dirty="0" err="1" smtClean="0"/>
              <a:t>BoostAlgorithm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704088"/>
            <a:ext cx="8115328" cy="172478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err="1" smtClean="0"/>
              <a:t>LG</a:t>
            </a:r>
            <a:r>
              <a:rPr lang="en-US" b="1" dirty="0" err="1" smtClean="0"/>
              <a:t>BoostRegressor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/>
          </a:p>
        </p:txBody>
      </p:sp>
      <p:pic>
        <p:nvPicPr>
          <p:cNvPr id="3" name="Content Placeholder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2143116"/>
            <a:ext cx="7917676" cy="3786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LG</a:t>
            </a:r>
            <a:r>
              <a:rPr lang="en-US" dirty="0" err="1" smtClean="0"/>
              <a:t>Boost</a:t>
            </a:r>
            <a:r>
              <a:rPr lang="en-US" dirty="0" smtClean="0"/>
              <a:t> </a:t>
            </a:r>
            <a:r>
              <a:rPr lang="en-US" dirty="0" err="1" smtClean="0"/>
              <a:t>regressor</a:t>
            </a:r>
            <a:r>
              <a:rPr lang="en-US" dirty="0" smtClean="0"/>
              <a:t>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LG Boost </a:t>
            </a:r>
            <a:r>
              <a:rPr lang="en-US" dirty="0" err="1" smtClean="0"/>
              <a:t>Regressor</a:t>
            </a:r>
            <a:r>
              <a:rPr lang="en-US" dirty="0" smtClean="0"/>
              <a:t>, more commonly referred to as </a:t>
            </a:r>
            <a:r>
              <a:rPr lang="en-US" dirty="0" err="1" smtClean="0"/>
              <a:t>LightGBM</a:t>
            </a:r>
            <a:r>
              <a:rPr lang="en-US" dirty="0" smtClean="0"/>
              <a:t> </a:t>
            </a:r>
            <a:r>
              <a:rPr lang="en-US" dirty="0" err="1" smtClean="0"/>
              <a:t>Regressor</a:t>
            </a:r>
            <a:r>
              <a:rPr lang="en-US" dirty="0" smtClean="0"/>
              <a:t>, is a high-performance, open-source gradient boosting framework developed by Microsoft. It is specifically designed to be faster, more efficient, and more scalable than traditional gradient boosting methods (like </a:t>
            </a:r>
            <a:r>
              <a:rPr lang="en-US" dirty="0" err="1" smtClean="0"/>
              <a:t>XGBoost</a:t>
            </a:r>
            <a:r>
              <a:rPr lang="en-US" dirty="0" smtClean="0"/>
              <a:t>) when working with massive datasets and high-dimensional features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b="1" dirty="0" smtClean="0"/>
          </a:p>
          <a:p>
            <a:r>
              <a:rPr lang="en-US" b="1" dirty="0" smtClean="0"/>
              <a:t>Objective</a:t>
            </a:r>
            <a:r>
              <a:rPr lang="en-US" dirty="0" smtClean="0"/>
              <a:t>: </a:t>
            </a:r>
            <a:r>
              <a:rPr lang="en-US" dirty="0" smtClean="0"/>
              <a:t> 'regression' (default for </a:t>
            </a:r>
            <a:r>
              <a:rPr lang="en-US" dirty="0" err="1" smtClean="0"/>
              <a:t>LGBMRegressor</a:t>
            </a:r>
            <a:r>
              <a:rPr lang="en-US" dirty="0" smtClean="0"/>
              <a:t>), '</a:t>
            </a:r>
            <a:r>
              <a:rPr lang="en-US" dirty="0" err="1" smtClean="0"/>
              <a:t>mse</a:t>
            </a:r>
            <a:r>
              <a:rPr lang="en-US" dirty="0" smtClean="0"/>
              <a:t>' (mean squared error), '</a:t>
            </a:r>
            <a:r>
              <a:rPr lang="en-US" dirty="0" err="1" smtClean="0"/>
              <a:t>mae</a:t>
            </a:r>
            <a:r>
              <a:rPr lang="en-US" dirty="0" smtClean="0"/>
              <a:t>' (mean absolute error), '</a:t>
            </a:r>
            <a:r>
              <a:rPr lang="en-US" dirty="0" err="1" smtClean="0"/>
              <a:t>huber</a:t>
            </a:r>
            <a:r>
              <a:rPr lang="en-US" dirty="0" smtClean="0"/>
              <a:t>', or '</a:t>
            </a:r>
            <a:r>
              <a:rPr lang="en-US" dirty="0" err="1" smtClean="0"/>
              <a:t>quantile</a:t>
            </a:r>
            <a:endParaRPr lang="en-US" b="1" dirty="0" smtClean="0"/>
          </a:p>
          <a:p>
            <a:r>
              <a:rPr lang="en-US" b="1" dirty="0" err="1" smtClean="0"/>
              <a:t>learning_rate</a:t>
            </a:r>
            <a:r>
              <a:rPr lang="en-US" dirty="0" smtClean="0"/>
              <a:t>: Shrinks the contribution of each tree by a small factor (default is 0.1). This helps prevent </a:t>
            </a:r>
            <a:r>
              <a:rPr lang="en-US" dirty="0" err="1" smtClean="0"/>
              <a:t>overfitting</a:t>
            </a:r>
            <a:r>
              <a:rPr lang="en-US" dirty="0" smtClean="0"/>
              <a:t> and is crucial for model robustness.</a:t>
            </a:r>
          </a:p>
          <a:p>
            <a:r>
              <a:rPr lang="en-US" b="1" dirty="0" err="1" smtClean="0"/>
              <a:t>num_leaves</a:t>
            </a:r>
            <a:r>
              <a:rPr lang="en-US" dirty="0" smtClean="0"/>
              <a:t>: The maximum number of leaves in a tree (default is 31). This is the primary parameter to control tree complexity in </a:t>
            </a:r>
            <a:r>
              <a:rPr lang="en-US" dirty="0" err="1" smtClean="0"/>
              <a:t>LightGBM</a:t>
            </a:r>
            <a:r>
              <a:rPr lang="en-US" dirty="0" smtClean="0"/>
              <a:t>, as it uses a leaf-wise growth strategy.</a:t>
            </a:r>
          </a:p>
          <a:p>
            <a:r>
              <a:rPr lang="en-US" b="1" dirty="0" err="1" smtClean="0"/>
              <a:t>max_depth</a:t>
            </a:r>
            <a:r>
              <a:rPr lang="en-US" dirty="0" smtClean="0"/>
              <a:t>: The maximum depth of the individual trees (default is -1, meaning no limit). If set to a positive value, </a:t>
            </a:r>
            <a:r>
              <a:rPr lang="en-US" dirty="0" err="1" smtClean="0"/>
              <a:t>num_leaves</a:t>
            </a:r>
            <a:r>
              <a:rPr lang="en-US" dirty="0" smtClean="0"/>
              <a:t> should be adjusted to be less than or equal to 2^max_depth.</a:t>
            </a:r>
          </a:p>
          <a:p>
            <a:r>
              <a:rPr lang="en-US" b="1" dirty="0" err="1" smtClean="0"/>
              <a:t>boosting_type</a:t>
            </a:r>
            <a:r>
              <a:rPr lang="en-US" dirty="0" smtClean="0"/>
              <a:t>: Specifies the type of boosting to use. Options include '</a:t>
            </a:r>
            <a:r>
              <a:rPr lang="en-US" dirty="0" err="1" smtClean="0"/>
              <a:t>gbdt</a:t>
            </a:r>
            <a:r>
              <a:rPr lang="en-US" dirty="0" smtClean="0"/>
              <a:t>' (Gradient Boosting Decision Tree, default), 'dart' (Dropout meets Multiple Additive Regression Trees), and '</a:t>
            </a:r>
            <a:r>
              <a:rPr lang="en-US" dirty="0" err="1" smtClean="0"/>
              <a:t>rf</a:t>
            </a:r>
            <a:r>
              <a:rPr lang="en-US" dirty="0" smtClean="0"/>
              <a:t>' (Random Forest).</a:t>
            </a:r>
          </a:p>
          <a:p>
            <a:r>
              <a:rPr lang="en-US" b="1" dirty="0" smtClean="0"/>
              <a:t>subsample</a:t>
            </a:r>
            <a:r>
              <a:rPr lang="en-US" dirty="0" smtClean="0"/>
              <a:t> (</a:t>
            </a:r>
            <a:r>
              <a:rPr lang="en-US" dirty="0" err="1" smtClean="0"/>
              <a:t>bagging_fraction</a:t>
            </a:r>
            <a:r>
              <a:rPr lang="en-US" dirty="0" smtClean="0"/>
              <a:t> in native API) and </a:t>
            </a:r>
            <a:r>
              <a:rPr lang="en-US" b="1" dirty="0" err="1" smtClean="0"/>
              <a:t>colsample_bytree</a:t>
            </a:r>
            <a:r>
              <a:rPr lang="en-US" dirty="0" smtClean="0"/>
              <a:t> (</a:t>
            </a:r>
            <a:r>
              <a:rPr lang="en-US" dirty="0" err="1" smtClean="0"/>
              <a:t>feature_fraction</a:t>
            </a:r>
            <a:r>
              <a:rPr lang="en-US" dirty="0" smtClean="0"/>
              <a:t> in native API): These control stochastic gradient boosting by using only a fraction of the samples (rows) and features (columns) for each tree, which helps reduce variance and prevent </a:t>
            </a:r>
            <a:r>
              <a:rPr lang="en-US" dirty="0" err="1" smtClean="0"/>
              <a:t>overfitting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reg_alpha</a:t>
            </a:r>
            <a:r>
              <a:rPr lang="en-US" dirty="0" smtClean="0"/>
              <a:t> (L1 regularization) and </a:t>
            </a:r>
            <a:r>
              <a:rPr lang="en-US" b="1" dirty="0" err="1" smtClean="0"/>
              <a:t>reg_lambda</a:t>
            </a:r>
            <a:r>
              <a:rPr lang="en-US" dirty="0" smtClean="0"/>
              <a:t> (L2 regularization): Regularization terms that can be used to control model complexity and prevent </a:t>
            </a:r>
            <a:r>
              <a:rPr lang="en-US" dirty="0" err="1" smtClean="0"/>
              <a:t>overfitting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min_child_samples</a:t>
            </a:r>
            <a:r>
              <a:rPr lang="en-US" dirty="0" smtClean="0"/>
              <a:t> (</a:t>
            </a:r>
            <a:r>
              <a:rPr lang="en-US" dirty="0" err="1" smtClean="0"/>
              <a:t>min_data_in_leaf</a:t>
            </a:r>
            <a:r>
              <a:rPr lang="en-US" dirty="0" smtClean="0"/>
              <a:t> in native API): The minimum number of samples (data points) required in a leaf node.</a:t>
            </a:r>
          </a:p>
          <a:p>
            <a:pPr>
              <a:buNone/>
            </a:pPr>
            <a:r>
              <a:rPr lang="en-US" b="1" i="1" dirty="0" smtClean="0"/>
              <a:t/>
            </a:r>
            <a:br>
              <a:rPr lang="en-US" b="1" i="1" dirty="0" smtClean="0"/>
            </a:br>
            <a:endParaRPr lang="en-US" b="1" i="1" dirty="0" smtClean="0"/>
          </a:p>
          <a:p>
            <a:endParaRPr lang="en-US" b="1" i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543956" cy="4389120"/>
          </a:xfrm>
        </p:spPr>
        <p:txBody>
          <a:bodyPr/>
          <a:lstStyle/>
          <a:p>
            <a:pPr>
              <a:buNone/>
            </a:pPr>
            <a:r>
              <a:rPr lang="en-US" b="1" i="1" dirty="0" smtClean="0"/>
              <a:t>from </a:t>
            </a:r>
            <a:r>
              <a:rPr lang="en-US" b="1" i="1" dirty="0" err="1" smtClean="0"/>
              <a:t>lightgbm</a:t>
            </a:r>
            <a:r>
              <a:rPr lang="en-US" b="1" i="1" dirty="0" smtClean="0"/>
              <a:t> import </a:t>
            </a:r>
            <a:r>
              <a:rPr lang="en-US" b="1" i="1" dirty="0" err="1" smtClean="0"/>
              <a:t>LGBMRegressor</a:t>
            </a:r>
            <a:endParaRPr lang="en-US" b="1" i="1" dirty="0" smtClean="0"/>
          </a:p>
          <a:p>
            <a:pPr>
              <a:buNone/>
            </a:pPr>
            <a:r>
              <a:rPr lang="en-US" b="1" i="1" dirty="0" err="1" smtClean="0"/>
              <a:t>Regressor</a:t>
            </a:r>
            <a:r>
              <a:rPr lang="en-US" b="1" i="1" dirty="0" smtClean="0"/>
              <a:t> =</a:t>
            </a:r>
            <a:r>
              <a:rPr lang="en-US" b="1" i="1" dirty="0" err="1" smtClean="0"/>
              <a:t>LGBMRegressor</a:t>
            </a:r>
            <a:r>
              <a:rPr lang="en-US" b="1" i="1" dirty="0" smtClean="0"/>
              <a:t>(objective</a:t>
            </a:r>
            <a:r>
              <a:rPr lang="en-US" b="1" i="1" dirty="0" smtClean="0"/>
              <a:t>='regression', </a:t>
            </a:r>
            <a:r>
              <a:rPr lang="en-US" b="1" i="1" dirty="0" err="1" smtClean="0"/>
              <a:t>n_estimators</a:t>
            </a:r>
            <a:r>
              <a:rPr lang="en-US" b="1" i="1" dirty="0" smtClean="0"/>
              <a:t>=100</a:t>
            </a:r>
            <a:r>
              <a:rPr lang="en-US" b="1" i="1" dirty="0" smtClean="0"/>
              <a:t>)</a:t>
            </a:r>
          </a:p>
          <a:p>
            <a:pPr>
              <a:buNone/>
            </a:pPr>
            <a:r>
              <a:rPr lang="en-US" b="1" i="1" dirty="0" smtClean="0"/>
              <a:t>regressor.fit(</a:t>
            </a:r>
            <a:r>
              <a:rPr lang="en-US" b="1" i="1" dirty="0" err="1" smtClean="0"/>
              <a:t>x_train</a:t>
            </a:r>
            <a:r>
              <a:rPr lang="en-US" b="1" i="1" dirty="0" smtClean="0"/>
              <a:t>, </a:t>
            </a:r>
            <a:r>
              <a:rPr lang="en-US" b="1" i="1" dirty="0" err="1" smtClean="0"/>
              <a:t>y_train</a:t>
            </a:r>
            <a:r>
              <a:rPr lang="en-US" b="1" i="1" dirty="0" smtClean="0"/>
              <a:t>)</a:t>
            </a:r>
            <a:endParaRPr lang="en-US" b="1" i="1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201</TotalTime>
  <Words>37</Words>
  <Application>Microsoft Office PowerPoint</Application>
  <PresentationFormat>On-screen Show (4:3)</PresentationFormat>
  <Paragraphs>19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Flow</vt:lpstr>
      <vt:lpstr>LGBoostAlgorithm</vt:lpstr>
      <vt:lpstr>   LGBoostRegressor </vt:lpstr>
      <vt:lpstr>What is LGBoost regressor ?</vt:lpstr>
      <vt:lpstr>Parameters:</vt:lpstr>
      <vt:lpstr>Code: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AdaBoostAlgorithm</dc:title>
  <dc:creator>user</dc:creator>
  <cp:lastModifiedBy>user</cp:lastModifiedBy>
  <cp:revision>14</cp:revision>
  <dcterms:created xsi:type="dcterms:W3CDTF">2026-03-01T13:53:59Z</dcterms:created>
  <dcterms:modified xsi:type="dcterms:W3CDTF">2026-03-02T12:22:05Z</dcterms:modified>
</cp:coreProperties>
</file>